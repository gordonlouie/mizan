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017520"/>
            <a:ext cx="54864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54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Mizan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4526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Halal investing, calibrated to your conscience.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B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  ·  Pre-seed  ·  May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0" y="6080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4B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jk@mizan.app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$5 trillion market that almost no one builds for properly.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finance, by the numbers.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1945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$5.2T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600200" y="3794760"/>
            <a:ext cx="4572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finance assets globally, 2025.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1945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11–15%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526280" y="3794760"/>
            <a:ext cx="4572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rate. Faster than any conventional finance vertical.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1945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2.0B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7452360" y="3794760"/>
            <a:ext cx="4572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population today. 3.0B by 2060.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35440" y="182880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1945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$341B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10378440" y="3794760"/>
            <a:ext cx="4572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fintech alone, projected by 2029.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S&amp;P Global Ratings · LSEG ICD · Mordor Intelligence · DinarStandard 2025.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halal investing app screens against ONE standard.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Muslims don't all follow one scholar. They follow many.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every app does today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Wahed Invest:  AAOIFI default.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Zoya:  AAOIFI default.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Musaffa:  AAOIFI default.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Islamicly:  AAOIFI default.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Amana / Saturna:  AAOIFI-ish default.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ruleset. One verdict. Take it or leave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they're trying to serve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South Asian Hanafis  (Mufti Taqi Usmani: stricter)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Salafis / strict Hanbalis  (zero-tolerance leanings)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611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Ja'fari Shia  (Sistani-aligned, khums applies)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4114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Mainstream Sunnis  (AAOIFI is fine)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4617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Mainstream Shafi'is  (Malaysian SAC norms)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5212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very different rulesets. One app for all of them.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Shariah compliance is a spectrum, not a binary.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spectrum is wide enough to fit a whole product category.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10896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92024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/ Scholar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66160" y="1920240"/>
            <a:ext cx="173736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75888" y="192024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 income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1920240"/>
            <a:ext cx="173736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3248" y="192024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/ mcap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1920240"/>
            <a:ext cx="192024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Cash+sec / mcap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0" y="1920240"/>
            <a:ext cx="1554480" cy="502920"/>
          </a:xfrm>
          <a:prstGeom prst="rect">
            <a:avLst/>
          </a:prstGeom>
          <a:solidFill>
            <a:srgbClr val="1F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70848" y="19202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Illiquid floor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42316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(zero-tolerance)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42316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4231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242316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24231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0" y="242316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242316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242316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0848" y="24231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3108960" cy="502920"/>
          </a:xfrm>
          <a:prstGeom prst="rect">
            <a:avLst/>
          </a:prstGeom>
          <a:solidFill>
            <a:srgbClr val="FFF8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92608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Mufti Taqi Usmani (Hanafi)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66160" y="2926080"/>
            <a:ext cx="1737360" cy="502920"/>
          </a:xfrm>
          <a:prstGeom prst="rect">
            <a:avLst/>
          </a:prstGeom>
          <a:solidFill>
            <a:srgbClr val="FFF8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75888" y="29260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03520" y="2926080"/>
            <a:ext cx="1737360" cy="502920"/>
          </a:xfrm>
          <a:prstGeom prst="rect">
            <a:avLst/>
          </a:prstGeom>
          <a:solidFill>
            <a:srgbClr val="FFF8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29260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40880" y="2926080"/>
            <a:ext cx="1920240" cy="502920"/>
          </a:xfrm>
          <a:prstGeom prst="rect">
            <a:avLst/>
          </a:prstGeom>
          <a:solidFill>
            <a:srgbClr val="FFF8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292608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61120" y="2926080"/>
            <a:ext cx="1554480" cy="502920"/>
          </a:xfrm>
          <a:prstGeom prst="rect">
            <a:avLst/>
          </a:prstGeom>
          <a:solidFill>
            <a:srgbClr val="FFF8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70848" y="292608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42900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42900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AAOIFI (Gulf default)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66160" y="342900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75888" y="342900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303520" y="342900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13248" y="342900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040880" y="342900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0608" y="34290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961120" y="342900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70848" y="34290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393192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393192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Jones Islamic Market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566160" y="393192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75888" y="39319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303520" y="393192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13248" y="39319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33%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040880" y="393192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0608" y="39319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33%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961120" y="393192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70848" y="393192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57200" y="443484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443484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Ja'fari (Sistani-aligned)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566160" y="443484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75888" y="443484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303520" y="443484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13248" y="443484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33%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040880" y="443484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50608" y="44348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33%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961120" y="443484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70848" y="44348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illiquid-asset floor is Mufti Taqi Usmani's unique requirement — and no major app implements it.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rule, surfaced clearly, is your wedge.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60-second demo that wins every meeting.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stock. Two scholars. Two verdicts.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AMZN under AAOIFI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8912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 income /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24688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2468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/ market cap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971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971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 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Cash+sec / market cap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4747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3474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Illiquid assets / total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9776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3977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screened)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Verdict: HALAL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Zoya / Musaffa / Islamicly show.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78308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AMZN under Mufti Taqi Usmani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14984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Impure income / revenue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4688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2468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/ market cap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35440" y="2971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2971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 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474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Cash+sec / market cap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35440" y="34747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0" y="3474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 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3977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Illiquid assets / total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35440" y="39776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3977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20% ✗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5212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Verdict: NOT HALAL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92240" y="5669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Mizan shows.  Nobody else does.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Mizan: the first screener that adapts to YOUR scholar.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every halal investor needs, one product.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Multi-scholar screening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AAOIFI, Mufti Taqi Usmani, DJIM, Ja'fari (Sistani), strict zero-tolerance, or build your own. Same stock, six different verdicts. Transparent ratios. No black box.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560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compliance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3520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Robinhood, Fidelity, Schwab, E*TRADE. See what passes — by count and by weight — under your chosen scholar. Alerts when filings change a verdict.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92024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95360" y="2560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Purification, automated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95360" y="3520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impure portion of dividends. For stricter scholars (Taqi, Ja'fari): purify capital gains too. One-tap donate via LaunchGood / Islamic Relief, tax-receipt back.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is shipping.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in 2 weeks, paid launch by month 6.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108960" cy="3749040"/>
          </a:xfrm>
          <a:prstGeom prst="roundRect">
            <a:avLst>
              <a:gd name="adj" fmla="val 4412"/>
            </a:avLst>
          </a:prstGeom>
          <a:solidFill>
            <a:srgbClr val="162A44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920240"/>
            <a:ext cx="2834640" cy="3474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920240"/>
            <a:ext cx="2834640" cy="5029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Mizan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256032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08960"/>
            <a:ext cx="2560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520440"/>
            <a:ext cx="128016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931920"/>
            <a:ext cx="256032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4297680"/>
            <a:ext cx="164592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663440"/>
            <a:ext cx="228600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5029200"/>
            <a:ext cx="1828800" cy="228600"/>
          </a:xfrm>
          <a:prstGeom prst="rect">
            <a:avLst/>
          </a:prstGeom>
          <a:solidFill>
            <a:srgbClr val="E8C54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623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Scholar picker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943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profiles, plus editable Custom. Per-scholar threshold reasoning shown inline.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1783080"/>
            <a:ext cx="3108960" cy="3749040"/>
          </a:xfrm>
          <a:prstGeom prst="roundRect">
            <a:avLst>
              <a:gd name="adj" fmla="val 4412"/>
            </a:avLst>
          </a:prstGeom>
          <a:solidFill>
            <a:srgbClr val="162A44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920240"/>
            <a:ext cx="2834640" cy="3474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1920240"/>
            <a:ext cx="2834640" cy="5029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Mizan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2606040"/>
            <a:ext cx="256032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108960"/>
            <a:ext cx="2560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520440"/>
            <a:ext cx="128016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0600" y="3931920"/>
            <a:ext cx="256032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4297680"/>
            <a:ext cx="164592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4663440"/>
            <a:ext cx="228600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5029200"/>
            <a:ext cx="1828800" cy="228600"/>
          </a:xfrm>
          <a:prstGeom prst="rect">
            <a:avLst/>
          </a:prstGeom>
          <a:solidFill>
            <a:srgbClr val="E8C547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5623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card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26280" y="5943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check, 5 ratio bars, pass/fail with the actual numbers. No mystery.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95360" y="1783080"/>
            <a:ext cx="3108960" cy="3749040"/>
          </a:xfrm>
          <a:prstGeom prst="roundRect">
            <a:avLst>
              <a:gd name="adj" fmla="val 4412"/>
            </a:avLst>
          </a:prstGeom>
          <a:solidFill>
            <a:srgbClr val="162A44"/>
          </a:solidFill>
          <a:ln/>
        </p:spPr>
      </p:sp>
      <p:sp>
        <p:nvSpPr>
          <p:cNvPr id="31" name="Shape 29"/>
          <p:cNvSpPr/>
          <p:nvPr/>
        </p:nvSpPr>
        <p:spPr>
          <a:xfrm>
            <a:off x="8732520" y="1920240"/>
            <a:ext cx="2834640" cy="3474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8732520" y="1920240"/>
            <a:ext cx="2834640" cy="5029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3" name="Text 31"/>
          <p:cNvSpPr/>
          <p:nvPr/>
        </p:nvSpPr>
        <p:spPr>
          <a:xfrm>
            <a:off x="886968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Mizan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869680" y="2606040"/>
            <a:ext cx="2560320" cy="365760"/>
          </a:xfrm>
          <a:prstGeom prst="rect">
            <a:avLst/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9680" y="3108960"/>
            <a:ext cx="25603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69680" y="3520440"/>
            <a:ext cx="128016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Shape 35"/>
          <p:cNvSpPr/>
          <p:nvPr/>
        </p:nvSpPr>
        <p:spPr>
          <a:xfrm>
            <a:off x="8869680" y="3931920"/>
            <a:ext cx="256032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8" name="Shape 36"/>
          <p:cNvSpPr/>
          <p:nvPr/>
        </p:nvSpPr>
        <p:spPr>
          <a:xfrm>
            <a:off x="8869680" y="4297680"/>
            <a:ext cx="164592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9" name="Shape 37"/>
          <p:cNvSpPr/>
          <p:nvPr/>
        </p:nvSpPr>
        <p:spPr>
          <a:xfrm>
            <a:off x="8869680" y="4663440"/>
            <a:ext cx="228600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0" name="Shape 38"/>
          <p:cNvSpPr/>
          <p:nvPr/>
        </p:nvSpPr>
        <p:spPr>
          <a:xfrm>
            <a:off x="8869680" y="5029200"/>
            <a:ext cx="1828800" cy="228600"/>
          </a:xfrm>
          <a:prstGeom prst="rect">
            <a:avLst/>
          </a:prstGeom>
          <a:solidFill>
            <a:srgbClr val="E8C547"/>
          </a:solidFill>
          <a:ln/>
        </p:spPr>
      </p:sp>
      <p:sp>
        <p:nvSpPr>
          <p:cNvPr id="41" name="Text 39"/>
          <p:cNvSpPr/>
          <p:nvPr/>
        </p:nvSpPr>
        <p:spPr>
          <a:xfrm>
            <a:off x="8595360" y="5623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score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595360" y="5943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Weight-adjusted pass rate, per-holding breakdown, and the failing checks called out.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tailwinds intersect for the first time.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Islamic fintech is finally a market.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423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$341B by 2029, 11.5% CAGR. ADIB launched the first retail sukuk app in 2025. UAE government is actively promoting digital Islamic finance.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38328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Scholar credibility is the moat — and AI scales it.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3840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ago, a multi-scholar screener needed five separate scholar relationships and ten years of trust. Claude lets us serve scholar-vetted reasoning at consumer scale.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80060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709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Diaspora Muslim wealth is compounding.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diaspora median household income now matches or exceeds local averages. They have brokerage accounts, smartphones, and unmet religious-financial needs.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wedge: 5M Hanafi diaspora who follow Mufti Taqi.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paying for halal apps. Already underserved.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cohort, in order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228600" cy="2286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60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paying. Zoya has 100K+ downloads at $9.99/mo.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228600" cy="2286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154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unmet need. Mufti Taqi's illiquid-asset rule isn't anywhere.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794760"/>
            <a:ext cx="228600" cy="2286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49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distribution. Mufti Taqi + son Mufti Hussain Kamani own English-language Hanafi YouTube.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389120"/>
            <a:ext cx="228600" cy="2286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343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South Asia direct (Pakistan, Bangladesh, India) in year 2.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983480"/>
            <a:ext cx="228600" cy="2286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937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Multi-scholar architecture means adding Shia / Salafi later is a feature release, not a rebuild.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sizing — the wedge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5528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Muslims globally  (eventual)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5528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diaspora Muslims  (year 2-3)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95528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Hanafi diaspora, US/UK/CA  (wedge)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389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5528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paying for halal apps  (initial target)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983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55280" y="5029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 by month 18  (seed milestone)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Go-to-market: earn distribution, then buy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phases, eighteen months, fully sequenced.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64592" cy="1188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MONTHS 1–6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content engine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YouTube videos a week, every podcast in the space, daily X presence. Get to 5K YouTube subs and 1K-person waitlist before any paid spend. CAC: zero.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64592" cy="1188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MONTHS 6–12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+ community partnerships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+ TikTok ads against Muslim affinity audiences ($18 blended CAC target). 10 mid-tier creator deals. Masjid partnership program in NYC, NJ, Chicago, Houston, Toronto, London.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164592" cy="1188720"/>
          </a:xfrm>
          <a:prstGeom prst="rect">
            <a:avLst/>
          </a:prstGeom>
          <a:solidFill>
            <a:srgbClr val="162A4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YEAR 2+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+ geographic expansion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SEO on every ticker. Localized Urdu / Hindi / Bengali / Arabic. ICNA / ISNA partnership for free Pro to members.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model: subscription, with a moat.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hook, paid value, family + masjid expansion.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6576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490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screens/day. AAOIFI default. No portfolio sync.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1F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$7.99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3611880"/>
            <a:ext cx="365760" cy="36576"/>
          </a:xfrm>
          <a:prstGeom prst="rect">
            <a:avLst/>
          </a:prstGeom>
          <a:solidFill>
            <a:srgbClr val="E8C547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37490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screens. All scholars. AI Q&amp;A. Custom thresholds.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87452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B8860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$14.99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9224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3611880"/>
            <a:ext cx="365760" cy="36576"/>
          </a:xfrm>
          <a:prstGeom prst="rect">
            <a:avLst/>
          </a:prstGeom>
          <a:solidFill>
            <a:srgbClr val="E8C54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7490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portfolio sync. Purification automation. Filing alerts.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35440" y="187452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18320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$19.99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41832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 · 4 seats   |   Masjid: $4.99 / seat (min 10)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418320" y="3611880"/>
            <a:ext cx="36576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0" y="37490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and community plans. Discounts on annual.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 work from day one.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creates retention. Retention creates LTV.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CAC, Year 1.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organic / founder content.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745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61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ARPU, Year 1 (paying users).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to $110 by Year 3 with Pro mix.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8745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: 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922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CAC, Year 1.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: 1 by Year 3 as paid scales.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8745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mo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41832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Religious-purpose products churn slowly.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1F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Three-year trajectory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4937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4937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0" y="4937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230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 (EOY)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5230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5230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0" y="5230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522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($M ARR)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5522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5522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0" y="5522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5815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($M)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5815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(0.6)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5815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(0.6)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0" y="5815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 exists. None of them ship our wedge.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is the only player serving the threshold-customization need.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37744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9202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1920240"/>
            <a:ext cx="164592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44368" y="19202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Multi-scholar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173736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9202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thresholds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173736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9202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Shariah 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182880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9202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Capital-gain purification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784080" y="1920240"/>
            <a:ext cx="146304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3808" y="19202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sync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3774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Wahed Invest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237744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4368" y="23774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23774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23774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23774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3774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55280" y="23774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23774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784080" y="237744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93808" y="2377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28346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Zoya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34640" y="283464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28346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80560" y="28346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28346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28346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28346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955280" y="28346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65008" y="28346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784080" y="283464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93808" y="28346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329184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2918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Musaffa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834640" y="329184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44368" y="32918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480560" y="32918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90288" y="32918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17920" y="32918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32918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955280" y="32918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65008" y="32918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784080" y="329184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93808" y="32918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57200" y="374904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" y="37490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Islamicly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834640" y="374904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44368" y="37490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480560" y="37490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90288" y="37490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217920" y="37490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27648" y="37490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955280" y="37490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65008" y="37490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784080" y="374904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93808" y="3749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57200" y="420624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42062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HalalScreener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2834640" y="420624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44368" y="42062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480560" y="42062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90288" y="42062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217920" y="42062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27648" y="42062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7955280" y="42062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65008" y="42062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9784080" y="420624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93808" y="42062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57200" y="466344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6928" y="46634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Hudood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2834640" y="466344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44368" y="46634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480560" y="46634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90288" y="46634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6217920" y="466344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27648" y="46634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7955280" y="46634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65008" y="46634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9784080" y="466344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893808" y="4663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457200" y="5120640"/>
            <a:ext cx="2377440" cy="457200"/>
          </a:xfrm>
          <a:prstGeom prst="rect">
            <a:avLst/>
          </a:prstGeom>
          <a:solidFill>
            <a:srgbClr val="FFF8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6928" y="51206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2834640" y="5120640"/>
            <a:ext cx="1645920" cy="457200"/>
          </a:xfrm>
          <a:prstGeom prst="rect">
            <a:avLst/>
          </a:prstGeom>
          <a:solidFill>
            <a:srgbClr val="FFF8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944368" y="51206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4480560" y="5120640"/>
            <a:ext cx="1737360" cy="457200"/>
          </a:xfrm>
          <a:prstGeom prst="rect">
            <a:avLst/>
          </a:prstGeom>
          <a:solidFill>
            <a:srgbClr val="FFF8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90288" y="51206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6217920" y="5120640"/>
            <a:ext cx="1737360" cy="457200"/>
          </a:xfrm>
          <a:prstGeom prst="rect">
            <a:avLst/>
          </a:prstGeom>
          <a:solidFill>
            <a:srgbClr val="FFF8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27648" y="512064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7955280" y="5120640"/>
            <a:ext cx="1828800" cy="457200"/>
          </a:xfrm>
          <a:prstGeom prst="rect">
            <a:avLst/>
          </a:prstGeom>
          <a:solidFill>
            <a:srgbClr val="FFF8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065008" y="51206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9784080" y="5120640"/>
            <a:ext cx="1463040" cy="457200"/>
          </a:xfrm>
          <a:prstGeom prst="rect">
            <a:avLst/>
          </a:prstGeom>
          <a:solidFill>
            <a:srgbClr val="FFF8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893808" y="51206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and Shariah supervisory board.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before code.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486400" cy="4114800"/>
          </a:xfrm>
          <a:prstGeom prst="rect">
            <a:avLst/>
          </a:prstGeom>
          <a:solidFill>
            <a:srgbClr val="F4F7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team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base. Halal finance domain expertise.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co-founder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TBD (Month 1)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fintech, scale shipping.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backend eng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TBD (Month 2)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pipelines.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product designer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TBD (Month 3)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486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fintech.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874520"/>
            <a:ext cx="5486400" cy="41148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Shariah supervisory board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2606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880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Mufti Faraz Adam (target)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154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· Hanafi · Amanah Advisors founder.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3657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Sheikh Joe Bradford (target)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3931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Hanbali/Maliki · AAOIFI-certified.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4434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Ja'fari scholar (target)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4709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Al-Mahdi Institute UK · pipeline confirmed.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4937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5212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TBD (Month 3 hire)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92240" y="5486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Full-time, AAOIFI-certified, in-house.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  ·  PRE-SEED  ·  MAY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77240"/>
            <a:ext cx="54864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1143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raising $750K.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 ·  $5M post-money cap  ·  18-month runway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0" y="3017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3383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+ 2 engineers + designer through alpha and beta.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7307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11680" y="37307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Shariah governance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40965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board members signed and supervising ship cadence.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4439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11680" y="444398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+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480974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financial data feed, Plaid, AI scholar Q&amp;A wired.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1572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11680" y="515721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+ ops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552297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engine, masjid pilots, legal, HK incorporation.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1264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jk@mizan.app  ·  mizan.app  ·  Hong Kong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2026-05-19T18:18:09Z</dcterms:created>
  <dcterms:modified xsi:type="dcterms:W3CDTF">2026-05-19T18:18:09Z</dcterms:modified>
</cp:coreProperties>
</file>